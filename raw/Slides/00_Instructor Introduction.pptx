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2" r:id="rId4"/>
    <p:sldId id="261" r:id="rId5"/>
    <p:sldId id="263" r:id="rId6"/>
  </p:sldIdLst>
  <p:sldSz cx="18288000" cy="10287000"/>
  <p:notesSz cx="6858000" cy="9144000"/>
  <p:embeddedFontLst>
    <p:embeddedFont>
      <p:font typeface="Helvetica World" pitchFamily="2" charset="0"/>
      <p:regular r:id="rId8"/>
    </p:embeddedFont>
    <p:embeddedFont>
      <p:font typeface="Helvetica World Bold" pitchFamily="2" charset="0"/>
      <p:regular r:id="rId9"/>
    </p:embeddedFont>
    <p:embeddedFont>
      <p:font typeface="Telegraf" pitchFamily="2" charset="77"/>
      <p:regular r:id="rId10"/>
    </p:embeddedFont>
    <p:embeddedFont>
      <p:font typeface="Telegraf Bold" pitchFamily="2" charset="77"/>
      <p:regular r:id="rId11"/>
      <p:bold r:id="rId12"/>
    </p:embeddedFont>
    <p:embeddedFont>
      <p:font typeface="Telegraf Medium" pitchFamily="2" charset="77"/>
      <p:regular r:id="rId13"/>
    </p:embeddedFont>
  </p:embeddedFont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8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5381-E4B7-4170-BC28-1DEEDDE633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97A5C3-9BB5-4E76-93DA-C40328B61B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CC7C6-3336-4F3F-8D79-B837265A47F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16/8/26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A56B7-C109-417D-B6B2-06DD0DBF7E8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CE51F-7D20-454C-8CC8-6EA630355C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B7DD6-0C10-452D-8802-1264980A3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3BCA4-AF23-4614-9ADD-FC863908D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B6B42-694A-4178-9553-06EEE9CF1A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16/8/26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33CA2-736E-4781-827E-D55AFB02B76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D0204-A91F-4C45-AC7F-FB55C3382A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0C170-0395-4497-8467-B4187406E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2D0C0-3927-4634-BF9B-D786084AA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D3840-0F79-46B2-BD6A-ED5C6CFDAD3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16/8/26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A0913-E6B1-4D20-8601-598B3E6962F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15FD5-304A-4F70-A0D9-1614953D77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1C80C-F067-4D8C-9D3B-B76FAA7D3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5116A-FA0D-40A6-8CF7-3CF6D3E63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1CBFE-DFA3-4E55-B64F-CB854724FC3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08DCC-1E4B-44E1-A040-7A4F299D6C1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16/8/26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FFE8E-CAF2-43C4-9618-D7C91EA75A0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28C5F7-2ACF-4364-B42C-63064CFD60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A57F7-1982-4065-8971-E37BF296C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C8C4E-74FE-4A79-AC0D-34D7CC8C8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A29407-05E6-4C80-B835-B94EBBB2E15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CF254A-50CE-46D0-B2A8-56AA75E02B4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8B0FF9-0AF3-4AFC-976C-1E5580E36314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B8BCE6-DD55-4358-BF2D-3E650EA481F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16/8/26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F0CD33-1C34-4FEE-9D81-DE9D864F58C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5A1029-097B-4D65-B0C5-FD26C5F232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DEDF9-3392-463E-B056-5B7134535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58CB7-DC8A-4C20-BC02-3DDD57C17A7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16/8/26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F251AD-FDA0-47EA-A7C6-14EA3914874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3A0DD-8D8A-4CA4-AB5D-0D69EE4643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C80DBD-9739-4F8C-B905-EB4610DE1E5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16/8/26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810618-498A-4E67-B640-8F531EA4FA6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70701-845D-41C3-86DD-B3206EEB83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F3C6D-EF47-403F-8FEA-9AF9493DE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8C25A-C98A-4BFE-B3DD-3776A665B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35B312-50AF-46D5-AD5D-830FE7A6827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92CEF5-0AC3-468D-B562-4186D34EBED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16/8/26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51AF8-2AEA-495F-9634-6BC24747F49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D8EA92-8D6A-484B-853A-96C842AEF9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76316-1BB5-4AA9-97F9-05226F825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A38542-6955-436F-B10E-15479E62FD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6B1566-E016-448C-9331-A566E24FD2A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6DDD9-6D8B-47DC-B66D-355C2EA454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16/8/26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BEDAF-E4E6-4B10-B91E-140B7F3E527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44167-BD44-4C76-A4BA-CBFBF43F07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9E688-53E4-4C98-995C-501B9EDE4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A1651-4CD8-4C84-A6C3-167E58DB1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DD51D-0D99-40F4-97AE-6BD4DC1C2E9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16/8/26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B1437-113E-4DAD-B8C1-B449AE372F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2616B-67FE-4DC0-A81F-9FB8F586BC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C37973-0CFE-4047-8465-B6A936D85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FA5C7D-E9D6-4C63-98C6-B2677ED55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54A0B-E359-4D15-801F-FE4E248C388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16/8/26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81138-6B99-4FD5-B029-1A7B31DCA85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3052D-A00E-4A9E-B3D0-CF13123BD9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3BFAD1-1B37-4BD2-9E8A-EDFF5BB98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C18B3-88C1-4463-A944-58D123C9E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A88B6-E45B-4000-8FD1-E20503F48682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t>16/8/26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879FC-6C67-47CD-BA49-84CC2FD52AF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46997-3E26-44D1-BFC0-2274E685BE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driofrioa@usfq.edu.ec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0CABA440-1541-4440-A7C3-2D2CA5183D4E}"/>
              </a:ext>
            </a:extLst>
          </p:cNvPr>
          <p:cNvSpPr>
            <a:spLocks noGrp="1"/>
          </p:cNvSpPr>
          <p:nvPr/>
        </p:nvSpPr>
        <p:spPr>
          <a:xfrm>
            <a:off x="10050573" y="1885156"/>
            <a:ext cx="7210168" cy="6518130"/>
          </a:xfrm>
          <a:custGeom>
            <a:avLst/>
            <a:gdLst/>
            <a:ahLst/>
            <a:cxnLst/>
            <a:rect l="l" t="t" r="r" b="b"/>
            <a:pathLst>
              <a:path w="6351270" h="5741670">
                <a:moveTo>
                  <a:pt x="0" y="542290"/>
                </a:moveTo>
                <a:lnTo>
                  <a:pt x="0" y="2392680"/>
                </a:lnTo>
                <a:cubicBezTo>
                  <a:pt x="0" y="2691130"/>
                  <a:pt x="242570" y="2933700"/>
                  <a:pt x="542290" y="2933700"/>
                </a:cubicBezTo>
                <a:lnTo>
                  <a:pt x="1148080" y="2933700"/>
                </a:lnTo>
                <a:cubicBezTo>
                  <a:pt x="1447800" y="2933700"/>
                  <a:pt x="1690370" y="3176270"/>
                  <a:pt x="1690370" y="3475990"/>
                </a:cubicBezTo>
                <a:lnTo>
                  <a:pt x="1690370" y="5199380"/>
                </a:lnTo>
                <a:cubicBezTo>
                  <a:pt x="1690370" y="5499100"/>
                  <a:pt x="1932940" y="5741670"/>
                  <a:pt x="2232660" y="5741670"/>
                </a:cubicBezTo>
                <a:lnTo>
                  <a:pt x="3599180" y="5741670"/>
                </a:lnTo>
                <a:cubicBezTo>
                  <a:pt x="3735070" y="5741670"/>
                  <a:pt x="3867150" y="5689600"/>
                  <a:pt x="3967480" y="5598160"/>
                </a:cubicBezTo>
                <a:lnTo>
                  <a:pt x="6177280" y="3553460"/>
                </a:lnTo>
                <a:cubicBezTo>
                  <a:pt x="6287770" y="3450590"/>
                  <a:pt x="6351270" y="3307080"/>
                  <a:pt x="6351270" y="3155950"/>
                </a:cubicBezTo>
                <a:lnTo>
                  <a:pt x="6351270" y="542290"/>
                </a:lnTo>
                <a:cubicBezTo>
                  <a:pt x="6350000" y="242570"/>
                  <a:pt x="6107430" y="0"/>
                  <a:pt x="5807710" y="0"/>
                </a:cubicBezTo>
                <a:lnTo>
                  <a:pt x="542290" y="0"/>
                </a:lnTo>
                <a:cubicBezTo>
                  <a:pt x="242570" y="0"/>
                  <a:pt x="0" y="242570"/>
                  <a:pt x="0" y="542290"/>
                </a:cubicBezTo>
                <a:close/>
              </a:path>
            </a:pathLst>
          </a:custGeom>
          <a:blipFill>
            <a:blip r:embed="rId3"/>
            <a:stretch>
              <a:fillRect r="-35479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361BD51-F026-431F-B6CC-8125A4E0F88C}"/>
              </a:ext>
            </a:extLst>
          </p:cNvPr>
          <p:cNvSpPr>
            <a:spLocks noGrp="1"/>
          </p:cNvSpPr>
          <p:nvPr/>
        </p:nvSpPr>
        <p:spPr>
          <a:xfrm>
            <a:off x="-404923" y="-148528"/>
            <a:ext cx="19097845" cy="1177228"/>
          </a:xfrm>
          <a:custGeom>
            <a:avLst/>
            <a:gdLst/>
            <a:ahLst/>
            <a:cxnLst/>
            <a:rect l="l" t="t" r="r" b="b"/>
            <a:pathLst>
              <a:path w="5029885" h="310052">
                <a:moveTo>
                  <a:pt x="0" y="0"/>
                </a:moveTo>
                <a:lnTo>
                  <a:pt x="5029885" y="0"/>
                </a:lnTo>
                <a:lnTo>
                  <a:pt x="5029885" y="310052"/>
                </a:lnTo>
                <a:lnTo>
                  <a:pt x="0" y="310052"/>
                </a:lnTo>
                <a:close/>
              </a:path>
            </a:pathLst>
          </a:custGeom>
          <a:solidFill>
            <a:srgbClr val="1B1B1B"/>
          </a:solidFill>
          <a:ln>
            <a:noFill/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573F8C8-39A9-414C-A9CC-E43BA766549E}"/>
              </a:ext>
            </a:extLst>
          </p:cNvPr>
          <p:cNvSpPr>
            <a:spLocks noGrp="1"/>
          </p:cNvSpPr>
          <p:nvPr/>
        </p:nvSpPr>
        <p:spPr>
          <a:xfrm>
            <a:off x="-404923" y="-293188"/>
            <a:ext cx="19097845" cy="132188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spcBef>
                <a:spcPct val="0"/>
              </a:spcBef>
              <a:buNone/>
            </a:pPr>
            <a:endParaRPr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3A6DE29-98F8-4506-81F8-111420E8BA41}"/>
              </a:ext>
            </a:extLst>
          </p:cNvPr>
          <p:cNvSpPr>
            <a:spLocks noGrp="1"/>
          </p:cNvSpPr>
          <p:nvPr/>
        </p:nvSpPr>
        <p:spPr>
          <a:xfrm>
            <a:off x="1028700" y="7868378"/>
            <a:ext cx="47625" cy="533400"/>
          </a:xfrm>
          <a:custGeom>
            <a:avLst/>
            <a:gdLst/>
            <a:ahLst/>
            <a:cxnLst/>
            <a:rect l="l" t="t" r="r" b="b"/>
            <a:pathLst>
              <a:path w="12543" h="140484">
                <a:moveTo>
                  <a:pt x="6272" y="0"/>
                </a:moveTo>
                <a:lnTo>
                  <a:pt x="6272" y="0"/>
                </a:lnTo>
                <a:cubicBezTo>
                  <a:pt x="7935" y="0"/>
                  <a:pt x="9530" y="661"/>
                  <a:pt x="10706" y="1837"/>
                </a:cubicBezTo>
                <a:cubicBezTo>
                  <a:pt x="11882" y="3013"/>
                  <a:pt x="12543" y="4608"/>
                  <a:pt x="12543" y="6272"/>
                </a:cubicBezTo>
                <a:lnTo>
                  <a:pt x="12543" y="134212"/>
                </a:lnTo>
                <a:cubicBezTo>
                  <a:pt x="12543" y="135876"/>
                  <a:pt x="11882" y="137471"/>
                  <a:pt x="10706" y="138647"/>
                </a:cubicBezTo>
                <a:cubicBezTo>
                  <a:pt x="9530" y="139823"/>
                  <a:pt x="7935" y="140484"/>
                  <a:pt x="6272" y="140484"/>
                </a:cubicBezTo>
                <a:lnTo>
                  <a:pt x="6272" y="140484"/>
                </a:lnTo>
                <a:cubicBezTo>
                  <a:pt x="4608" y="140484"/>
                  <a:pt x="3013" y="139823"/>
                  <a:pt x="1837" y="138647"/>
                </a:cubicBezTo>
                <a:cubicBezTo>
                  <a:pt x="661" y="137471"/>
                  <a:pt x="0" y="135876"/>
                  <a:pt x="0" y="134212"/>
                </a:cubicBezTo>
                <a:lnTo>
                  <a:pt x="0" y="6272"/>
                </a:lnTo>
                <a:cubicBezTo>
                  <a:pt x="0" y="4608"/>
                  <a:pt x="661" y="3013"/>
                  <a:pt x="1837" y="1837"/>
                </a:cubicBezTo>
                <a:cubicBezTo>
                  <a:pt x="3013" y="661"/>
                  <a:pt x="4608" y="0"/>
                  <a:pt x="6272" y="0"/>
                </a:cubicBezTo>
                <a:close/>
              </a:path>
            </a:pathLst>
          </a:custGeom>
          <a:solidFill>
            <a:srgbClr val="A6A6A6"/>
          </a:solidFill>
        </p:spPr>
        <p:txBody>
          <a:bodyPr/>
          <a:lstStyle/>
          <a:p>
            <a:endParaRPr lang="en-EC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77A8E04-1181-4BF1-A444-1BC52D2627F9}"/>
              </a:ext>
            </a:extLst>
          </p:cNvPr>
          <p:cNvSpPr>
            <a:spLocks noGrp="1"/>
          </p:cNvSpPr>
          <p:nvPr/>
        </p:nvSpPr>
        <p:spPr>
          <a:xfrm>
            <a:off x="1028700" y="7723718"/>
            <a:ext cx="47625" cy="678060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AC531A2-EF49-4ECA-AFB4-F108A11C8EC6}"/>
              </a:ext>
            </a:extLst>
          </p:cNvPr>
          <p:cNvSpPr>
            <a:spLocks noGrp="1"/>
          </p:cNvSpPr>
          <p:nvPr/>
        </p:nvSpPr>
        <p:spPr>
          <a:xfrm>
            <a:off x="1028699" y="1722751"/>
            <a:ext cx="8974247" cy="169623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4"/>
              </a:lnSpc>
              <a:spcBef>
                <a:spcPct val="0"/>
              </a:spcBef>
              <a:buNone/>
            </a:pPr>
            <a:r>
              <a:rPr lang="es-419" sz="10046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Daniel Riofrío</a:t>
            </a:r>
            <a:endParaRPr sz="10046" b="1" dirty="0">
              <a:solidFill>
                <a:srgbClr val="1B1B1B"/>
              </a:solidFill>
              <a:latin typeface="Telegraf Medium"/>
              <a:ea typeface="Telegraf Medium"/>
              <a:cs typeface="Telegraf Medium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E34178D-0FA9-436D-900F-6E17C5CEC480}"/>
              </a:ext>
            </a:extLst>
          </p:cNvPr>
          <p:cNvSpPr>
            <a:spLocks noGrp="1"/>
          </p:cNvSpPr>
          <p:nvPr/>
        </p:nvSpPr>
        <p:spPr>
          <a:xfrm>
            <a:off x="1355582" y="7877903"/>
            <a:ext cx="9442255" cy="45236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599"/>
              </a:lnSpc>
              <a:buNone/>
            </a:pPr>
            <a:r>
              <a:rPr lang="es-419" sz="29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Computer Science and Applied and Computing Director</a:t>
            </a:r>
            <a:endParaRPr sz="2999" dirty="0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</p:spTree>
    <p:extLst>
      <p:ext uri="{BB962C8B-B14F-4D97-AF65-F5344CB8AC3E}">
        <p14:creationId xmlns:p14="http://schemas.microsoft.com/office/powerpoint/2010/main" val="1689595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22F61228-1623-45AE-9747-165234C72D97}"/>
              </a:ext>
            </a:extLst>
          </p:cNvPr>
          <p:cNvSpPr>
            <a:spLocks noGrp="1"/>
          </p:cNvSpPr>
          <p:nvPr/>
        </p:nvSpPr>
        <p:spPr>
          <a:xfrm>
            <a:off x="4416725" y="573090"/>
            <a:ext cx="12135480" cy="4792966"/>
          </a:xfrm>
          <a:custGeom>
            <a:avLst/>
            <a:gdLst/>
            <a:ahLst/>
            <a:cxnLst/>
            <a:rect l="l" t="t" r="r" b="b"/>
            <a:pathLst>
              <a:path w="3196176" h="1262345">
                <a:moveTo>
                  <a:pt x="19139" y="0"/>
                </a:moveTo>
                <a:lnTo>
                  <a:pt x="3177037" y="0"/>
                </a:lnTo>
                <a:cubicBezTo>
                  <a:pt x="3182113" y="0"/>
                  <a:pt x="3186981" y="2016"/>
                  <a:pt x="3190570" y="5606"/>
                </a:cubicBezTo>
                <a:cubicBezTo>
                  <a:pt x="3194159" y="9195"/>
                  <a:pt x="3196176" y="14063"/>
                  <a:pt x="3196176" y="19139"/>
                </a:cubicBezTo>
                <a:lnTo>
                  <a:pt x="3196176" y="1243206"/>
                </a:lnTo>
                <a:cubicBezTo>
                  <a:pt x="3196176" y="1248282"/>
                  <a:pt x="3194159" y="1253150"/>
                  <a:pt x="3190570" y="1256739"/>
                </a:cubicBezTo>
                <a:cubicBezTo>
                  <a:pt x="3186981" y="1260328"/>
                  <a:pt x="3182113" y="1262345"/>
                  <a:pt x="3177037" y="1262345"/>
                </a:cubicBezTo>
                <a:lnTo>
                  <a:pt x="19139" y="1262345"/>
                </a:lnTo>
                <a:cubicBezTo>
                  <a:pt x="14063" y="1262345"/>
                  <a:pt x="9195" y="1260328"/>
                  <a:pt x="5606" y="1256739"/>
                </a:cubicBezTo>
                <a:cubicBezTo>
                  <a:pt x="2016" y="1253150"/>
                  <a:pt x="0" y="1248282"/>
                  <a:pt x="0" y="1243206"/>
                </a:cubicBezTo>
                <a:lnTo>
                  <a:pt x="0" y="19139"/>
                </a:lnTo>
                <a:cubicBezTo>
                  <a:pt x="0" y="14063"/>
                  <a:pt x="2016" y="9195"/>
                  <a:pt x="5606" y="5606"/>
                </a:cubicBezTo>
                <a:cubicBezTo>
                  <a:pt x="9195" y="2016"/>
                  <a:pt x="14063" y="0"/>
                  <a:pt x="19139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pic>
        <p:nvPicPr>
          <p:cNvPr id="26" name="Picture 25" descr="Image preview">
            <a:extLst>
              <a:ext uri="{FF2B5EF4-FFF2-40B4-BE49-F238E27FC236}">
                <a16:creationId xmlns:a16="http://schemas.microsoft.com/office/drawing/2014/main" id="{35E97F18-FBED-CCBA-4DF2-BB6CC6355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32" y="333682"/>
            <a:ext cx="5248961" cy="5248961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BC0E5CBA-9839-42FC-B3B2-F0EF057299B1}"/>
              </a:ext>
            </a:extLst>
          </p:cNvPr>
          <p:cNvSpPr>
            <a:spLocks noGrp="1"/>
          </p:cNvSpPr>
          <p:nvPr/>
        </p:nvSpPr>
        <p:spPr>
          <a:xfrm>
            <a:off x="4416725" y="428430"/>
            <a:ext cx="12135480" cy="4937626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85C19FA-2687-4D73-9246-10C6C59E6DA2}"/>
              </a:ext>
            </a:extLst>
          </p:cNvPr>
          <p:cNvSpPr>
            <a:spLocks noGrp="1"/>
          </p:cNvSpPr>
          <p:nvPr/>
        </p:nvSpPr>
        <p:spPr>
          <a:xfrm>
            <a:off x="961225" y="7244488"/>
            <a:ext cx="5760412" cy="11694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976"/>
              </a:lnSpc>
              <a:buNone/>
            </a:pPr>
            <a:r>
              <a:rPr sz="8976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Who I am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17166EA-AA49-4862-B60C-C970F50C6C53}"/>
              </a:ext>
            </a:extLst>
          </p:cNvPr>
          <p:cNvSpPr>
            <a:spLocks noGrp="1"/>
          </p:cNvSpPr>
          <p:nvPr/>
        </p:nvSpPr>
        <p:spPr>
          <a:xfrm>
            <a:off x="6399148" y="724499"/>
            <a:ext cx="8951354" cy="425154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230"/>
              </a:lnSpc>
              <a:buNone/>
            </a:pPr>
            <a:r>
              <a:rPr sz="3000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My profile</a:t>
            </a:r>
          </a:p>
          <a:p>
            <a:pPr marL="647706" indent="-323853" algn="l">
              <a:lnSpc>
                <a:spcPts val="4230"/>
              </a:lnSpc>
              <a:buFont typeface="Arial"/>
              <a:buChar char="•"/>
            </a:pPr>
            <a:r>
              <a:rPr lang="es-419" sz="30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Ph.D in Computer Science - UNM</a:t>
            </a:r>
            <a:endParaRPr sz="3000" dirty="0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  <a:p>
            <a:pPr marL="647706" indent="-323853" algn="l">
              <a:lnSpc>
                <a:spcPts val="4230"/>
              </a:lnSpc>
              <a:buFont typeface="Arial"/>
              <a:buChar char="•"/>
            </a:pPr>
            <a:r>
              <a:rPr lang="es-419" sz="30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Computer Optimization and Applied ML</a:t>
            </a:r>
            <a:endParaRPr sz="3000" dirty="0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  <a:p>
            <a:pPr marL="647706" indent="-323853" algn="l">
              <a:lnSpc>
                <a:spcPts val="4230"/>
              </a:lnSpc>
              <a:buFont typeface="Arial"/>
              <a:buChar char="•"/>
            </a:pPr>
            <a:r>
              <a:rPr lang="es-419" sz="30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8+ years at USFQ</a:t>
            </a:r>
            <a:endParaRPr sz="3000" dirty="0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  <a:p>
            <a:pPr marL="647706" indent="-323853" algn="l">
              <a:lnSpc>
                <a:spcPts val="4230"/>
              </a:lnSpc>
              <a:buFont typeface="Arial"/>
              <a:buChar char="•"/>
            </a:pPr>
            <a:r>
              <a:rPr lang="es-419" sz="30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5+ years as Director of Computer Science</a:t>
            </a:r>
            <a:endParaRPr sz="3000" dirty="0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  <a:p>
            <a:pPr marL="647706" indent="-323853" algn="l">
              <a:lnSpc>
                <a:spcPts val="4230"/>
              </a:lnSpc>
              <a:buFont typeface="Arial"/>
              <a:buChar char="•"/>
            </a:pPr>
            <a:r>
              <a:rPr lang="es-419" sz="30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 love my beagles</a:t>
            </a:r>
            <a:endParaRPr sz="3000" dirty="0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  <a:p>
            <a:pPr algn="l">
              <a:lnSpc>
                <a:spcPts val="4230"/>
              </a:lnSpc>
              <a:buNone/>
            </a:pPr>
            <a:r>
              <a:rPr lang="es-419" sz="3000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Why AI?</a:t>
            </a:r>
            <a:endParaRPr sz="3000" b="1" dirty="0">
              <a:solidFill>
                <a:srgbClr val="1B1B1B"/>
              </a:solidFill>
              <a:latin typeface="Helvetica World Bold"/>
              <a:ea typeface="Helvetica World Bold"/>
              <a:cs typeface="Helvetica World Bold"/>
            </a:endParaRPr>
          </a:p>
          <a:p>
            <a:pPr algn="l">
              <a:lnSpc>
                <a:spcPts val="3948"/>
              </a:lnSpc>
              <a:buNone/>
            </a:pPr>
            <a:endParaRPr sz="3000" b="1" dirty="0">
              <a:solidFill>
                <a:srgbClr val="1B1B1B"/>
              </a:solidFill>
              <a:latin typeface="Helvetica World Bold"/>
              <a:ea typeface="Helvetica World Bold"/>
              <a:cs typeface="Helvetica World Bold"/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7F7899D8-5107-4466-ACA2-806447F06FC6}"/>
              </a:ext>
            </a:extLst>
          </p:cNvPr>
          <p:cNvSpPr>
            <a:spLocks noGrp="1"/>
          </p:cNvSpPr>
          <p:nvPr/>
        </p:nvSpPr>
        <p:spPr>
          <a:xfrm>
            <a:off x="15719622" y="7147810"/>
            <a:ext cx="1163894" cy="0"/>
          </a:xfrm>
          <a:prstGeom prst="line">
            <a:avLst/>
          </a:prstGeom>
          <a:ln w="66675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EC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61C02D07-3B91-4ADC-8309-F706C374181B}"/>
              </a:ext>
            </a:extLst>
          </p:cNvPr>
          <p:cNvSpPr>
            <a:spLocks noGrp="1"/>
          </p:cNvSpPr>
          <p:nvPr/>
        </p:nvSpPr>
        <p:spPr>
          <a:xfrm>
            <a:off x="14155900" y="7136815"/>
            <a:ext cx="1563490" cy="10995"/>
          </a:xfrm>
          <a:prstGeom prst="line">
            <a:avLst/>
          </a:prstGeom>
          <a:ln w="66675">
            <a:solidFill>
              <a:srgbClr val="000000"/>
            </a:solidFill>
            <a:prstDash val="solid"/>
            <a:headEnd type="oval" w="lg" len="lg"/>
            <a:tailEnd type="diamond" w="lg" len="lg"/>
          </a:ln>
        </p:spPr>
        <p:txBody>
          <a:bodyPr/>
          <a:lstStyle/>
          <a:p>
            <a:endParaRPr lang="en-EC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FFCD3AC1-CDD2-46EA-B9BF-C2A92865393F}"/>
              </a:ext>
            </a:extLst>
          </p:cNvPr>
          <p:cNvSpPr>
            <a:spLocks noGrp="1"/>
          </p:cNvSpPr>
          <p:nvPr/>
        </p:nvSpPr>
        <p:spPr>
          <a:xfrm>
            <a:off x="11851828" y="7131318"/>
            <a:ext cx="1563490" cy="10995"/>
          </a:xfrm>
          <a:prstGeom prst="line">
            <a:avLst/>
          </a:prstGeom>
          <a:ln w="66675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EC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4D8F76AC-467D-44F7-9D75-559DE5A32ACB}"/>
              </a:ext>
            </a:extLst>
          </p:cNvPr>
          <p:cNvSpPr>
            <a:spLocks noGrp="1"/>
          </p:cNvSpPr>
          <p:nvPr/>
        </p:nvSpPr>
        <p:spPr>
          <a:xfrm>
            <a:off x="9547756" y="7125820"/>
            <a:ext cx="1563490" cy="10995"/>
          </a:xfrm>
          <a:prstGeom prst="line">
            <a:avLst/>
          </a:prstGeom>
          <a:ln w="66675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EC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EFFA577C-7B4A-4C11-9A8A-77DF2A662B0B}"/>
              </a:ext>
            </a:extLst>
          </p:cNvPr>
          <p:cNvSpPr>
            <a:spLocks noGrp="1"/>
          </p:cNvSpPr>
          <p:nvPr/>
        </p:nvSpPr>
        <p:spPr>
          <a:xfrm>
            <a:off x="7243684" y="7120323"/>
            <a:ext cx="1563490" cy="10995"/>
          </a:xfrm>
          <a:prstGeom prst="line">
            <a:avLst/>
          </a:prstGeom>
          <a:ln w="66675">
            <a:solidFill>
              <a:srgbClr val="000000"/>
            </a:solidFill>
            <a:prstDash val="solid"/>
            <a:headEnd type="diamond" w="lg" len="lg"/>
            <a:tailEnd type="oval" w="lg" len="lg"/>
          </a:ln>
        </p:spPr>
        <p:txBody>
          <a:bodyPr/>
          <a:lstStyle/>
          <a:p>
            <a:endParaRPr lang="en-EC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CDD6533B-C665-42C1-97C7-AAE548C16293}"/>
              </a:ext>
            </a:extLst>
          </p:cNvPr>
          <p:cNvSpPr>
            <a:spLocks noGrp="1"/>
          </p:cNvSpPr>
          <p:nvPr/>
        </p:nvSpPr>
        <p:spPr>
          <a:xfrm>
            <a:off x="13415319" y="7147810"/>
            <a:ext cx="740582" cy="0"/>
          </a:xfrm>
          <a:prstGeom prst="line">
            <a:avLst/>
          </a:prstGeom>
          <a:ln w="66675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EC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88227A71-6371-4653-8020-FB4041CD88A7}"/>
              </a:ext>
            </a:extLst>
          </p:cNvPr>
          <p:cNvSpPr>
            <a:spLocks noGrp="1"/>
          </p:cNvSpPr>
          <p:nvPr/>
        </p:nvSpPr>
        <p:spPr>
          <a:xfrm>
            <a:off x="11111247" y="7147810"/>
            <a:ext cx="740582" cy="0"/>
          </a:xfrm>
          <a:prstGeom prst="line">
            <a:avLst/>
          </a:prstGeom>
          <a:ln w="66675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EC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661ECBE0-7855-4622-8594-CDAA07EAF051}"/>
              </a:ext>
            </a:extLst>
          </p:cNvPr>
          <p:cNvSpPr>
            <a:spLocks noGrp="1"/>
          </p:cNvSpPr>
          <p:nvPr/>
        </p:nvSpPr>
        <p:spPr>
          <a:xfrm>
            <a:off x="8807175" y="7147810"/>
            <a:ext cx="740582" cy="0"/>
          </a:xfrm>
          <a:prstGeom prst="line">
            <a:avLst/>
          </a:prstGeom>
          <a:ln w="66675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EC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42340AB-EB4B-4347-981D-D3527824AF9E}"/>
              </a:ext>
            </a:extLst>
          </p:cNvPr>
          <p:cNvSpPr>
            <a:spLocks noGrp="1"/>
          </p:cNvSpPr>
          <p:nvPr/>
        </p:nvSpPr>
        <p:spPr>
          <a:xfrm>
            <a:off x="6399148" y="6035428"/>
            <a:ext cx="1769959" cy="92980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  <a:buNone/>
            </a:pPr>
            <a:r>
              <a:rPr lang="es-419" sz="3600" b="1" dirty="0">
                <a:solidFill>
                  <a:srgbClr val="1B1B1B"/>
                </a:solidFill>
                <a:latin typeface="Telegraf Bold"/>
                <a:ea typeface="Telegraf Bold"/>
                <a:cs typeface="Telegraf Bold"/>
              </a:rPr>
              <a:t>2015</a:t>
            </a:r>
          </a:p>
          <a:p>
            <a:pPr algn="l">
              <a:lnSpc>
                <a:spcPts val="3600"/>
              </a:lnSpc>
              <a:buNone/>
            </a:pPr>
            <a:r>
              <a:rPr lang="es-419" sz="3600" b="1" dirty="0">
                <a:solidFill>
                  <a:srgbClr val="1B1B1B"/>
                </a:solidFill>
                <a:latin typeface="Telegraf Bold"/>
                <a:ea typeface="Telegraf Bold"/>
                <a:cs typeface="Telegraf Bold"/>
              </a:rPr>
              <a:t>Ph.D</a:t>
            </a:r>
            <a:endParaRPr sz="3600" b="1" dirty="0">
              <a:solidFill>
                <a:srgbClr val="1B1B1B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E3B6545-5239-4C52-BE81-BD7F8B62A854}"/>
              </a:ext>
            </a:extLst>
          </p:cNvPr>
          <p:cNvSpPr>
            <a:spLocks noGrp="1"/>
          </p:cNvSpPr>
          <p:nvPr/>
        </p:nvSpPr>
        <p:spPr>
          <a:xfrm>
            <a:off x="15057730" y="6205475"/>
            <a:ext cx="1962944" cy="46814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  <a:buNone/>
            </a:pPr>
            <a:r>
              <a:rPr sz="3600" b="1" dirty="0">
                <a:solidFill>
                  <a:srgbClr val="1B1B1B"/>
                </a:solidFill>
                <a:latin typeface="Telegraf Bold"/>
                <a:ea typeface="Telegraf Bold"/>
                <a:cs typeface="Telegraf Bold"/>
              </a:rPr>
              <a:t>TODAY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C112BF8D-5605-412A-B883-B8BB23E8C11D}"/>
              </a:ext>
            </a:extLst>
          </p:cNvPr>
          <p:cNvSpPr>
            <a:spLocks noGrp="1"/>
          </p:cNvSpPr>
          <p:nvPr/>
        </p:nvSpPr>
        <p:spPr>
          <a:xfrm>
            <a:off x="7291440" y="8522934"/>
            <a:ext cx="7068102" cy="7582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  <a:buNone/>
            </a:pPr>
            <a:r>
              <a:rPr lang="es-419" sz="4499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CMP + MAC one direction</a:t>
            </a:r>
            <a:endParaRPr sz="4499" dirty="0">
              <a:solidFill>
                <a:srgbClr val="1B1B1B"/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262AFF80-5A0F-4561-8C3F-90767901A211}"/>
              </a:ext>
            </a:extLst>
          </p:cNvPr>
          <p:cNvSpPr>
            <a:spLocks noGrp="1"/>
          </p:cNvSpPr>
          <p:nvPr/>
        </p:nvSpPr>
        <p:spPr>
          <a:xfrm flipV="1">
            <a:off x="15719390" y="7304081"/>
            <a:ext cx="0" cy="1732860"/>
          </a:xfrm>
          <a:prstGeom prst="line">
            <a:avLst/>
          </a:prstGeom>
          <a:ln w="57150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EC"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9F5F9421-9B6C-411B-8170-94F928E9A5CF}"/>
              </a:ext>
            </a:extLst>
          </p:cNvPr>
          <p:cNvSpPr>
            <a:spLocks noGrp="1"/>
          </p:cNvSpPr>
          <p:nvPr/>
        </p:nvSpPr>
        <p:spPr>
          <a:xfrm>
            <a:off x="14385198" y="9036941"/>
            <a:ext cx="1334191" cy="0"/>
          </a:xfrm>
          <a:prstGeom prst="line">
            <a:avLst/>
          </a:prstGeom>
          <a:ln w="57150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EC"/>
          </a:p>
        </p:txBody>
      </p:sp>
      <p:sp>
        <p:nvSpPr>
          <p:cNvPr id="27" name="TextBox 18">
            <a:extLst>
              <a:ext uri="{FF2B5EF4-FFF2-40B4-BE49-F238E27FC236}">
                <a16:creationId xmlns:a16="http://schemas.microsoft.com/office/drawing/2014/main" id="{DDC42534-C13C-F94F-86DA-03530BC917A0}"/>
              </a:ext>
            </a:extLst>
          </p:cNvPr>
          <p:cNvSpPr>
            <a:spLocks noGrp="1"/>
          </p:cNvSpPr>
          <p:nvPr/>
        </p:nvSpPr>
        <p:spPr>
          <a:xfrm>
            <a:off x="10443040" y="6054290"/>
            <a:ext cx="2149370" cy="92980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  <a:buNone/>
            </a:pPr>
            <a:r>
              <a:rPr lang="es-419" sz="3600" b="1" dirty="0">
                <a:solidFill>
                  <a:srgbClr val="1B1B1B"/>
                </a:solidFill>
                <a:latin typeface="Telegraf Bold"/>
                <a:ea typeface="Telegraf Bold"/>
                <a:cs typeface="Telegraf Bold"/>
              </a:rPr>
              <a:t>2019</a:t>
            </a:r>
          </a:p>
          <a:p>
            <a:pPr algn="l">
              <a:lnSpc>
                <a:spcPts val="3600"/>
              </a:lnSpc>
              <a:buNone/>
            </a:pPr>
            <a:r>
              <a:rPr lang="es-419" sz="3600" b="1" dirty="0">
                <a:solidFill>
                  <a:srgbClr val="1B1B1B"/>
                </a:solidFill>
                <a:latin typeface="Telegraf Bold"/>
                <a:ea typeface="Telegraf Bold"/>
                <a:cs typeface="Telegraf Bold"/>
              </a:rPr>
              <a:t>Danielita</a:t>
            </a:r>
            <a:endParaRPr sz="3600" b="1" dirty="0">
              <a:solidFill>
                <a:srgbClr val="1B1B1B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FB909FFF-4694-46CA-F218-E2F3490165FE}"/>
              </a:ext>
            </a:extLst>
          </p:cNvPr>
          <p:cNvSpPr>
            <a:spLocks noGrp="1"/>
          </p:cNvSpPr>
          <p:nvPr/>
        </p:nvSpPr>
        <p:spPr>
          <a:xfrm>
            <a:off x="8102781" y="6030353"/>
            <a:ext cx="2149370" cy="92980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  <a:buNone/>
            </a:pPr>
            <a:r>
              <a:rPr lang="es-419" sz="3600" b="1" dirty="0">
                <a:solidFill>
                  <a:srgbClr val="1B1B1B"/>
                </a:solidFill>
                <a:latin typeface="Telegraf Bold"/>
                <a:ea typeface="Telegraf Bold"/>
                <a:cs typeface="Telegraf Bold"/>
              </a:rPr>
              <a:t>2018</a:t>
            </a:r>
          </a:p>
          <a:p>
            <a:pPr algn="l">
              <a:lnSpc>
                <a:spcPts val="3600"/>
              </a:lnSpc>
              <a:buNone/>
            </a:pPr>
            <a:r>
              <a:rPr lang="es-419" sz="3600" b="1" dirty="0">
                <a:solidFill>
                  <a:srgbClr val="1B1B1B"/>
                </a:solidFill>
                <a:latin typeface="Telegraf Bold"/>
                <a:ea typeface="Telegraf Bold"/>
                <a:cs typeface="Telegraf Bold"/>
              </a:rPr>
              <a:t>SirPaul</a:t>
            </a:r>
            <a:endParaRPr sz="3600" b="1" dirty="0">
              <a:solidFill>
                <a:srgbClr val="1B1B1B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9" name="TextBox 18">
            <a:extLst>
              <a:ext uri="{FF2B5EF4-FFF2-40B4-BE49-F238E27FC236}">
                <a16:creationId xmlns:a16="http://schemas.microsoft.com/office/drawing/2014/main" id="{C3E56AC3-DEEB-F04B-C7DD-BB374C05AB50}"/>
              </a:ext>
            </a:extLst>
          </p:cNvPr>
          <p:cNvSpPr>
            <a:spLocks noGrp="1"/>
          </p:cNvSpPr>
          <p:nvPr/>
        </p:nvSpPr>
        <p:spPr>
          <a:xfrm>
            <a:off x="13081215" y="6043790"/>
            <a:ext cx="2149370" cy="92980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  <a:buNone/>
            </a:pPr>
            <a:r>
              <a:rPr lang="es-419" sz="3600" b="1" dirty="0">
                <a:solidFill>
                  <a:srgbClr val="1B1B1B"/>
                </a:solidFill>
                <a:latin typeface="Telegraf Bold"/>
                <a:ea typeface="Telegraf Bold"/>
                <a:cs typeface="Telegraf Bold"/>
              </a:rPr>
              <a:t>2025</a:t>
            </a:r>
          </a:p>
          <a:p>
            <a:pPr algn="l">
              <a:lnSpc>
                <a:spcPts val="3600"/>
              </a:lnSpc>
              <a:buNone/>
            </a:pPr>
            <a:r>
              <a:rPr lang="es-419" sz="3600" b="1" dirty="0">
                <a:solidFill>
                  <a:srgbClr val="1B1B1B"/>
                </a:solidFill>
                <a:latin typeface="Telegraf Bold"/>
                <a:ea typeface="Telegraf Bold"/>
                <a:cs typeface="Telegraf Bold"/>
              </a:rPr>
              <a:t>Ringo</a:t>
            </a:r>
            <a:endParaRPr sz="3600" b="1" dirty="0">
              <a:solidFill>
                <a:srgbClr val="1B1B1B"/>
              </a:solidFill>
              <a:latin typeface="Telegraf Bold"/>
              <a:ea typeface="Telegraf Bold"/>
              <a:cs typeface="Telegraf Bold"/>
            </a:endParaRPr>
          </a:p>
        </p:txBody>
      </p:sp>
    </p:spTree>
    <p:extLst>
      <p:ext uri="{BB962C8B-B14F-4D97-AF65-F5344CB8AC3E}">
        <p14:creationId xmlns:p14="http://schemas.microsoft.com/office/powerpoint/2010/main" val="851689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">
            <a:extLst>
              <a:ext uri="{FF2B5EF4-FFF2-40B4-BE49-F238E27FC236}">
                <a16:creationId xmlns:a16="http://schemas.microsoft.com/office/drawing/2014/main" id="{6307D9B8-79D4-8728-F316-3B9D81479BFA}"/>
              </a:ext>
            </a:extLst>
          </p:cNvPr>
          <p:cNvSpPr>
            <a:spLocks noGrp="1"/>
          </p:cNvSpPr>
          <p:nvPr/>
        </p:nvSpPr>
        <p:spPr>
          <a:xfrm>
            <a:off x="4416725" y="573090"/>
            <a:ext cx="12135480" cy="4792966"/>
          </a:xfrm>
          <a:custGeom>
            <a:avLst/>
            <a:gdLst/>
            <a:ahLst/>
            <a:cxnLst/>
            <a:rect l="l" t="t" r="r" b="b"/>
            <a:pathLst>
              <a:path w="3196176" h="1262345">
                <a:moveTo>
                  <a:pt x="19139" y="0"/>
                </a:moveTo>
                <a:lnTo>
                  <a:pt x="3177037" y="0"/>
                </a:lnTo>
                <a:cubicBezTo>
                  <a:pt x="3182113" y="0"/>
                  <a:pt x="3186981" y="2016"/>
                  <a:pt x="3190570" y="5606"/>
                </a:cubicBezTo>
                <a:cubicBezTo>
                  <a:pt x="3194159" y="9195"/>
                  <a:pt x="3196176" y="14063"/>
                  <a:pt x="3196176" y="19139"/>
                </a:cubicBezTo>
                <a:lnTo>
                  <a:pt x="3196176" y="1243206"/>
                </a:lnTo>
                <a:cubicBezTo>
                  <a:pt x="3196176" y="1248282"/>
                  <a:pt x="3194159" y="1253150"/>
                  <a:pt x="3190570" y="1256739"/>
                </a:cubicBezTo>
                <a:cubicBezTo>
                  <a:pt x="3186981" y="1260328"/>
                  <a:pt x="3182113" y="1262345"/>
                  <a:pt x="3177037" y="1262345"/>
                </a:cubicBezTo>
                <a:lnTo>
                  <a:pt x="19139" y="1262345"/>
                </a:lnTo>
                <a:cubicBezTo>
                  <a:pt x="14063" y="1262345"/>
                  <a:pt x="9195" y="1260328"/>
                  <a:pt x="5606" y="1256739"/>
                </a:cubicBezTo>
                <a:cubicBezTo>
                  <a:pt x="2016" y="1253150"/>
                  <a:pt x="0" y="1248282"/>
                  <a:pt x="0" y="1243206"/>
                </a:cubicBezTo>
                <a:lnTo>
                  <a:pt x="0" y="19139"/>
                </a:lnTo>
                <a:cubicBezTo>
                  <a:pt x="0" y="14063"/>
                  <a:pt x="2016" y="9195"/>
                  <a:pt x="5606" y="5606"/>
                </a:cubicBezTo>
                <a:cubicBezTo>
                  <a:pt x="9195" y="2016"/>
                  <a:pt x="14063" y="0"/>
                  <a:pt x="19139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F9A24F04-0C68-5251-4249-04C72A6BCD47}"/>
              </a:ext>
            </a:extLst>
          </p:cNvPr>
          <p:cNvSpPr>
            <a:spLocks noGrp="1"/>
          </p:cNvSpPr>
          <p:nvPr/>
        </p:nvSpPr>
        <p:spPr>
          <a:xfrm>
            <a:off x="394242" y="542667"/>
            <a:ext cx="5179586" cy="4823389"/>
          </a:xfrm>
          <a:custGeom>
            <a:avLst/>
            <a:gdLst/>
            <a:ahLst/>
            <a:cxnLst/>
            <a:rect l="l" t="t" r="r" b="b"/>
            <a:pathLst>
              <a:path w="6348428" h="5911850">
                <a:moveTo>
                  <a:pt x="1146508" y="402590"/>
                </a:moveTo>
                <a:lnTo>
                  <a:pt x="108918" y="2192020"/>
                </a:lnTo>
                <a:cubicBezTo>
                  <a:pt x="-68882" y="2498090"/>
                  <a:pt x="-25702" y="2884170"/>
                  <a:pt x="214328" y="3144520"/>
                </a:cubicBezTo>
                <a:lnTo>
                  <a:pt x="2525728" y="5651500"/>
                </a:lnTo>
                <a:cubicBezTo>
                  <a:pt x="2678128" y="5817870"/>
                  <a:pt x="2894028" y="5911850"/>
                  <a:pt x="3118818" y="5911850"/>
                </a:cubicBezTo>
                <a:lnTo>
                  <a:pt x="5540708" y="5911850"/>
                </a:lnTo>
                <a:cubicBezTo>
                  <a:pt x="5986478" y="5911850"/>
                  <a:pt x="6348428" y="5549900"/>
                  <a:pt x="6348428" y="5104130"/>
                </a:cubicBezTo>
                <a:lnTo>
                  <a:pt x="6348428" y="1891030"/>
                </a:lnTo>
                <a:cubicBezTo>
                  <a:pt x="6348428" y="1724660"/>
                  <a:pt x="6297628" y="1562100"/>
                  <a:pt x="6201108" y="1426210"/>
                </a:cubicBezTo>
                <a:lnTo>
                  <a:pt x="5439108" y="342900"/>
                </a:lnTo>
                <a:cubicBezTo>
                  <a:pt x="5287978" y="128270"/>
                  <a:pt x="5041598" y="0"/>
                  <a:pt x="4778708" y="0"/>
                </a:cubicBezTo>
                <a:lnTo>
                  <a:pt x="1845008" y="0"/>
                </a:lnTo>
                <a:cubicBezTo>
                  <a:pt x="1556718" y="0"/>
                  <a:pt x="1290018" y="153670"/>
                  <a:pt x="1146508" y="402590"/>
                </a:cubicBezTo>
                <a:close/>
              </a:path>
            </a:pathLst>
          </a:custGeom>
          <a:blipFill>
            <a:blip r:embed="rId2"/>
            <a:stretch>
              <a:fillRect l="-19778" r="-19778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FC520B61-BB21-26BF-7339-F12471038E28}"/>
              </a:ext>
            </a:extLst>
          </p:cNvPr>
          <p:cNvSpPr>
            <a:spLocks noGrp="1"/>
          </p:cNvSpPr>
          <p:nvPr/>
        </p:nvSpPr>
        <p:spPr>
          <a:xfrm>
            <a:off x="961225" y="7244488"/>
            <a:ext cx="15590980" cy="11694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976"/>
              </a:lnSpc>
              <a:buNone/>
            </a:pPr>
            <a:r>
              <a:rPr lang="es-419" sz="8976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Get in touch when needed</a:t>
            </a:r>
            <a:endParaRPr sz="8976" b="1" dirty="0">
              <a:solidFill>
                <a:srgbClr val="1B1B1B"/>
              </a:solidFill>
              <a:latin typeface="Telegraf Medium"/>
              <a:ea typeface="Telegraf Medium"/>
              <a:cs typeface="Telegraf Mediu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179BF6-FA76-5846-6D31-405EC1ABCFBA}"/>
              </a:ext>
            </a:extLst>
          </p:cNvPr>
          <p:cNvSpPr txBox="1"/>
          <p:nvPr/>
        </p:nvSpPr>
        <p:spPr>
          <a:xfrm>
            <a:off x="6898105" y="1022175"/>
            <a:ext cx="9144000" cy="4343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230"/>
              </a:lnSpc>
              <a:buNone/>
            </a:pPr>
            <a:r>
              <a:rPr lang="en-US" sz="3000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Contact channels</a:t>
            </a:r>
          </a:p>
          <a:p>
            <a:pPr marL="647706" indent="-323853" algn="l">
              <a:lnSpc>
                <a:spcPts val="4230"/>
              </a:lnSpc>
              <a:buFont typeface="Arial"/>
              <a:buChar char="•"/>
            </a:pPr>
            <a:r>
              <a:rPr lang="en-US" sz="30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Email: </a:t>
            </a:r>
            <a:r>
              <a:rPr lang="en-US" sz="30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hlinkClick r:id="rId3"/>
              </a:rPr>
              <a:t>driofrioa@usfq.edu.ec</a:t>
            </a:r>
            <a:r>
              <a:rPr lang="en-US" sz="30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</a:t>
            </a:r>
          </a:p>
          <a:p>
            <a:pPr marL="647706" indent="-323853" algn="l">
              <a:lnSpc>
                <a:spcPts val="4230"/>
              </a:lnSpc>
              <a:buFont typeface="Arial"/>
              <a:buChar char="•"/>
            </a:pPr>
            <a:r>
              <a:rPr lang="en-US" sz="30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Office: H317</a:t>
            </a:r>
          </a:p>
          <a:p>
            <a:pPr marL="647706" indent="-323853" algn="l">
              <a:lnSpc>
                <a:spcPts val="4230"/>
              </a:lnSpc>
              <a:buFont typeface="Arial"/>
              <a:buChar char="•"/>
            </a:pPr>
            <a:r>
              <a:rPr lang="en-US" sz="30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Hours: MTWR 14:30 to 16:00</a:t>
            </a:r>
          </a:p>
          <a:p>
            <a:pPr marL="647706" indent="-323853" algn="l">
              <a:lnSpc>
                <a:spcPts val="4230"/>
              </a:lnSpc>
              <a:buFont typeface="Arial"/>
              <a:buChar char="•"/>
            </a:pPr>
            <a:r>
              <a:rPr lang="en-US" sz="30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Course channel: D2L</a:t>
            </a:r>
          </a:p>
          <a:p>
            <a:pPr marL="647706" indent="-323853" algn="l">
              <a:lnSpc>
                <a:spcPts val="4230"/>
              </a:lnSpc>
              <a:buFont typeface="Arial"/>
              <a:buChar char="•"/>
            </a:pPr>
            <a:r>
              <a:rPr lang="en-US" sz="30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Expected reply: up to 24h.</a:t>
            </a:r>
          </a:p>
          <a:p>
            <a:pPr marL="647706" indent="-323853" algn="l">
              <a:lnSpc>
                <a:spcPts val="4230"/>
              </a:lnSpc>
              <a:buFont typeface="Arial"/>
              <a:buChar char="•"/>
            </a:pPr>
            <a:r>
              <a:rPr lang="en-US" sz="30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Telegram: @</a:t>
            </a:r>
            <a:r>
              <a:rPr lang="en-US" sz="3000" dirty="0" err="1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danielriofrio</a:t>
            </a:r>
            <a:endParaRPr lang="en-US" sz="3000" dirty="0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  <a:p>
            <a:pPr algn="l">
              <a:lnSpc>
                <a:spcPts val="3948"/>
              </a:lnSpc>
              <a:buNone/>
            </a:pPr>
            <a:endParaRPr lang="en-US" sz="3000" b="1" dirty="0">
              <a:solidFill>
                <a:srgbClr val="1B1B1B"/>
              </a:solidFill>
              <a:latin typeface="Helvetica World Bold"/>
              <a:ea typeface="Helvetica World Bold"/>
              <a:cs typeface="Helvetica World Bold"/>
            </a:endParaRPr>
          </a:p>
        </p:txBody>
      </p:sp>
    </p:spTree>
    <p:extLst>
      <p:ext uri="{BB962C8B-B14F-4D97-AF65-F5344CB8AC3E}">
        <p14:creationId xmlns:p14="http://schemas.microsoft.com/office/powerpoint/2010/main" val="2392636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22F61228-1623-45AE-9747-165234C72D97}"/>
              </a:ext>
            </a:extLst>
          </p:cNvPr>
          <p:cNvSpPr>
            <a:spLocks noGrp="1"/>
          </p:cNvSpPr>
          <p:nvPr/>
        </p:nvSpPr>
        <p:spPr>
          <a:xfrm>
            <a:off x="4416725" y="573090"/>
            <a:ext cx="12135480" cy="6469394"/>
          </a:xfrm>
          <a:custGeom>
            <a:avLst/>
            <a:gdLst/>
            <a:ahLst/>
            <a:cxnLst/>
            <a:rect l="l" t="t" r="r" b="b"/>
            <a:pathLst>
              <a:path w="3196176" h="1262345">
                <a:moveTo>
                  <a:pt x="19139" y="0"/>
                </a:moveTo>
                <a:lnTo>
                  <a:pt x="3177037" y="0"/>
                </a:lnTo>
                <a:cubicBezTo>
                  <a:pt x="3182113" y="0"/>
                  <a:pt x="3186981" y="2016"/>
                  <a:pt x="3190570" y="5606"/>
                </a:cubicBezTo>
                <a:cubicBezTo>
                  <a:pt x="3194159" y="9195"/>
                  <a:pt x="3196176" y="14063"/>
                  <a:pt x="3196176" y="19139"/>
                </a:cubicBezTo>
                <a:lnTo>
                  <a:pt x="3196176" y="1243206"/>
                </a:lnTo>
                <a:cubicBezTo>
                  <a:pt x="3196176" y="1248282"/>
                  <a:pt x="3194159" y="1253150"/>
                  <a:pt x="3190570" y="1256739"/>
                </a:cubicBezTo>
                <a:cubicBezTo>
                  <a:pt x="3186981" y="1260328"/>
                  <a:pt x="3182113" y="1262345"/>
                  <a:pt x="3177037" y="1262345"/>
                </a:cubicBezTo>
                <a:lnTo>
                  <a:pt x="19139" y="1262345"/>
                </a:lnTo>
                <a:cubicBezTo>
                  <a:pt x="14063" y="1262345"/>
                  <a:pt x="9195" y="1260328"/>
                  <a:pt x="5606" y="1256739"/>
                </a:cubicBezTo>
                <a:cubicBezTo>
                  <a:pt x="2016" y="1253150"/>
                  <a:pt x="0" y="1248282"/>
                  <a:pt x="0" y="1243206"/>
                </a:cubicBezTo>
                <a:lnTo>
                  <a:pt x="0" y="19139"/>
                </a:lnTo>
                <a:cubicBezTo>
                  <a:pt x="0" y="14063"/>
                  <a:pt x="2016" y="9195"/>
                  <a:pt x="5606" y="5606"/>
                </a:cubicBezTo>
                <a:cubicBezTo>
                  <a:pt x="9195" y="2016"/>
                  <a:pt x="14063" y="0"/>
                  <a:pt x="19139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C0E5CBA-9839-42FC-B3B2-F0EF057299B1}"/>
              </a:ext>
            </a:extLst>
          </p:cNvPr>
          <p:cNvSpPr>
            <a:spLocks noGrp="1"/>
          </p:cNvSpPr>
          <p:nvPr/>
        </p:nvSpPr>
        <p:spPr>
          <a:xfrm>
            <a:off x="4416725" y="428430"/>
            <a:ext cx="12135480" cy="4937626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248ADEF-6397-4554-89E3-DD0028486FFC}"/>
              </a:ext>
            </a:extLst>
          </p:cNvPr>
          <p:cNvSpPr>
            <a:spLocks noGrp="1"/>
          </p:cNvSpPr>
          <p:nvPr/>
        </p:nvSpPr>
        <p:spPr>
          <a:xfrm>
            <a:off x="394242" y="542667"/>
            <a:ext cx="5179586" cy="4823389"/>
          </a:xfrm>
          <a:custGeom>
            <a:avLst/>
            <a:gdLst/>
            <a:ahLst/>
            <a:cxnLst/>
            <a:rect l="l" t="t" r="r" b="b"/>
            <a:pathLst>
              <a:path w="6348428" h="5911850">
                <a:moveTo>
                  <a:pt x="1146508" y="402590"/>
                </a:moveTo>
                <a:lnTo>
                  <a:pt x="108918" y="2192020"/>
                </a:lnTo>
                <a:cubicBezTo>
                  <a:pt x="-68882" y="2498090"/>
                  <a:pt x="-25702" y="2884170"/>
                  <a:pt x="214328" y="3144520"/>
                </a:cubicBezTo>
                <a:lnTo>
                  <a:pt x="2525728" y="5651500"/>
                </a:lnTo>
                <a:cubicBezTo>
                  <a:pt x="2678128" y="5817870"/>
                  <a:pt x="2894028" y="5911850"/>
                  <a:pt x="3118818" y="5911850"/>
                </a:cubicBezTo>
                <a:lnTo>
                  <a:pt x="5540708" y="5911850"/>
                </a:lnTo>
                <a:cubicBezTo>
                  <a:pt x="5986478" y="5911850"/>
                  <a:pt x="6348428" y="5549900"/>
                  <a:pt x="6348428" y="5104130"/>
                </a:cubicBezTo>
                <a:lnTo>
                  <a:pt x="6348428" y="1891030"/>
                </a:lnTo>
                <a:cubicBezTo>
                  <a:pt x="6348428" y="1724660"/>
                  <a:pt x="6297628" y="1562100"/>
                  <a:pt x="6201108" y="1426210"/>
                </a:cubicBezTo>
                <a:lnTo>
                  <a:pt x="5439108" y="342900"/>
                </a:lnTo>
                <a:cubicBezTo>
                  <a:pt x="5287978" y="128270"/>
                  <a:pt x="5041598" y="0"/>
                  <a:pt x="4778708" y="0"/>
                </a:cubicBezTo>
                <a:lnTo>
                  <a:pt x="1845008" y="0"/>
                </a:lnTo>
                <a:cubicBezTo>
                  <a:pt x="1556718" y="0"/>
                  <a:pt x="1290018" y="153670"/>
                  <a:pt x="1146508" y="402590"/>
                </a:cubicBezTo>
                <a:close/>
              </a:path>
            </a:pathLst>
          </a:custGeom>
          <a:blipFill>
            <a:blip r:embed="rId3"/>
            <a:stretch>
              <a:fillRect l="-19778" r="-19778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85C19FA-2687-4D73-9246-10C6C59E6DA2}"/>
              </a:ext>
            </a:extLst>
          </p:cNvPr>
          <p:cNvSpPr>
            <a:spLocks noGrp="1"/>
          </p:cNvSpPr>
          <p:nvPr/>
        </p:nvSpPr>
        <p:spPr>
          <a:xfrm>
            <a:off x="961225" y="7244488"/>
            <a:ext cx="15590980" cy="11694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976"/>
              </a:lnSpc>
              <a:buNone/>
            </a:pPr>
            <a:r>
              <a:rPr lang="es-419" sz="8976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Course Content</a:t>
            </a:r>
            <a:endParaRPr sz="8976" b="1" dirty="0">
              <a:solidFill>
                <a:srgbClr val="1B1B1B"/>
              </a:solidFill>
              <a:latin typeface="Telegraf Medium"/>
              <a:ea typeface="Telegraf Medium"/>
              <a:cs typeface="Telegraf Medium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17166EA-AA49-4862-B60C-C970F50C6C53}"/>
              </a:ext>
            </a:extLst>
          </p:cNvPr>
          <p:cNvSpPr>
            <a:spLocks noGrp="1"/>
          </p:cNvSpPr>
          <p:nvPr/>
        </p:nvSpPr>
        <p:spPr>
          <a:xfrm>
            <a:off x="6096000" y="724498"/>
            <a:ext cx="9254502" cy="60324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EC" sz="2800" dirty="0"/>
              <a:t>1. HISTORY AND FOUNDATIONS OF AI</a:t>
            </a:r>
            <a:br>
              <a:rPr lang="en-EC" sz="4400" dirty="0"/>
            </a:br>
            <a:r>
              <a:rPr lang="en-EC" sz="2800" dirty="0"/>
              <a:t>2. INTELLIGENT AGENTS AND PROBLEM FORMULATION</a:t>
            </a:r>
            <a:br>
              <a:rPr lang="en-EC" sz="4400" dirty="0"/>
            </a:br>
            <a:r>
              <a:rPr lang="en-EC" sz="2800" dirty="0"/>
              <a:t>3. HEURISTIC SEARCH FOR SOLUTIONS</a:t>
            </a:r>
            <a:br>
              <a:rPr lang="en-EC" sz="4400" dirty="0"/>
            </a:br>
            <a:r>
              <a:rPr lang="en-EC" sz="2800" dirty="0"/>
              <a:t>4. ADVERSARIAL SEARCH IN GAMES</a:t>
            </a:r>
            <a:br>
              <a:rPr lang="en-EC" sz="4400" dirty="0"/>
            </a:br>
            <a:r>
              <a:rPr lang="en-EC" sz="2800" dirty="0"/>
              <a:t>5. KNOWLEDGE, REASONING, AND PLANNING</a:t>
            </a:r>
            <a:br>
              <a:rPr lang="en-EC" sz="4400" dirty="0"/>
            </a:br>
            <a:r>
              <a:rPr lang="en-EC" sz="2800" dirty="0"/>
              <a:t>6. PROPOSITIONAL AND FIRST-ORDER LOGIC: PROLOG, UNIFICATION, AND INFERENCE; FORWARD/BACKWARD CHAINING</a:t>
            </a:r>
            <a:br>
              <a:rPr lang="en-EC" sz="4400" dirty="0"/>
            </a:br>
            <a:r>
              <a:rPr lang="en-EC" sz="2800" dirty="0"/>
              <a:t>7. UNCERTAINTY: PROBABILITY, BAYES’ THEOREM, AND NAIVE BAYES</a:t>
            </a:r>
            <a:br>
              <a:rPr lang="en-EC" sz="4400" dirty="0"/>
            </a:br>
            <a:r>
              <a:rPr lang="en-EC" sz="2800" dirty="0"/>
              <a:t>8. TEMPORAL REASONING AND DYNAMIC MODELS: MARKOV</a:t>
            </a:r>
            <a:br>
              <a:rPr lang="en-EC" sz="4400" dirty="0"/>
            </a:br>
            <a:r>
              <a:rPr lang="en-EC" sz="2800" dirty="0"/>
              <a:t>9. OPTIMIZATION AND BIO-INSPIRED ALGORITHMS</a:t>
            </a:r>
            <a:br>
              <a:rPr lang="en-EC" sz="4400" dirty="0"/>
            </a:br>
            <a:r>
              <a:rPr lang="en-EC" sz="2800" dirty="0"/>
              <a:t>10. MACHINE LEARNING AND NEURAL NETWORKS: PERCEPTRON; ETHICS AND SAFETY</a:t>
            </a:r>
            <a:endParaRPr sz="4000" b="1" dirty="0">
              <a:solidFill>
                <a:srgbClr val="1B1B1B"/>
              </a:solidFill>
              <a:latin typeface="Helvetica World Bold"/>
              <a:ea typeface="Helvetica World Bold"/>
              <a:cs typeface="Helvetica World Bold"/>
            </a:endParaRPr>
          </a:p>
        </p:txBody>
      </p:sp>
    </p:spTree>
    <p:extLst>
      <p:ext uri="{BB962C8B-B14F-4D97-AF65-F5344CB8AC3E}">
        <p14:creationId xmlns:p14="http://schemas.microsoft.com/office/powerpoint/2010/main" val="851689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">
            <a:extLst>
              <a:ext uri="{FF2B5EF4-FFF2-40B4-BE49-F238E27FC236}">
                <a16:creationId xmlns:a16="http://schemas.microsoft.com/office/drawing/2014/main" id="{DD481251-5C2C-427C-BE90-793AE438BC42}"/>
              </a:ext>
            </a:extLst>
          </p:cNvPr>
          <p:cNvSpPr>
            <a:spLocks noGrp="1"/>
          </p:cNvSpPr>
          <p:nvPr/>
        </p:nvSpPr>
        <p:spPr>
          <a:xfrm>
            <a:off x="4416725" y="573090"/>
            <a:ext cx="12135480" cy="4792966"/>
          </a:xfrm>
          <a:custGeom>
            <a:avLst/>
            <a:gdLst/>
            <a:ahLst/>
            <a:cxnLst/>
            <a:rect l="l" t="t" r="r" b="b"/>
            <a:pathLst>
              <a:path w="3196176" h="1262345">
                <a:moveTo>
                  <a:pt x="19139" y="0"/>
                </a:moveTo>
                <a:lnTo>
                  <a:pt x="3177037" y="0"/>
                </a:lnTo>
                <a:cubicBezTo>
                  <a:pt x="3182113" y="0"/>
                  <a:pt x="3186981" y="2016"/>
                  <a:pt x="3190570" y="5606"/>
                </a:cubicBezTo>
                <a:cubicBezTo>
                  <a:pt x="3194159" y="9195"/>
                  <a:pt x="3196176" y="14063"/>
                  <a:pt x="3196176" y="19139"/>
                </a:cubicBezTo>
                <a:lnTo>
                  <a:pt x="3196176" y="1243206"/>
                </a:lnTo>
                <a:cubicBezTo>
                  <a:pt x="3196176" y="1248282"/>
                  <a:pt x="3194159" y="1253150"/>
                  <a:pt x="3190570" y="1256739"/>
                </a:cubicBezTo>
                <a:cubicBezTo>
                  <a:pt x="3186981" y="1260328"/>
                  <a:pt x="3182113" y="1262345"/>
                  <a:pt x="3177037" y="1262345"/>
                </a:cubicBezTo>
                <a:lnTo>
                  <a:pt x="19139" y="1262345"/>
                </a:lnTo>
                <a:cubicBezTo>
                  <a:pt x="14063" y="1262345"/>
                  <a:pt x="9195" y="1260328"/>
                  <a:pt x="5606" y="1256739"/>
                </a:cubicBezTo>
                <a:cubicBezTo>
                  <a:pt x="2016" y="1253150"/>
                  <a:pt x="0" y="1248282"/>
                  <a:pt x="0" y="1243206"/>
                </a:cubicBezTo>
                <a:lnTo>
                  <a:pt x="0" y="19139"/>
                </a:lnTo>
                <a:cubicBezTo>
                  <a:pt x="0" y="14063"/>
                  <a:pt x="2016" y="9195"/>
                  <a:pt x="5606" y="5606"/>
                </a:cubicBezTo>
                <a:cubicBezTo>
                  <a:pt x="9195" y="2016"/>
                  <a:pt x="14063" y="0"/>
                  <a:pt x="19139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5288FF19-4600-BCEE-A09F-E4A66EE24DE5}"/>
              </a:ext>
            </a:extLst>
          </p:cNvPr>
          <p:cNvSpPr>
            <a:spLocks noGrp="1"/>
          </p:cNvSpPr>
          <p:nvPr/>
        </p:nvSpPr>
        <p:spPr>
          <a:xfrm>
            <a:off x="394242" y="542667"/>
            <a:ext cx="5179586" cy="4823389"/>
          </a:xfrm>
          <a:custGeom>
            <a:avLst/>
            <a:gdLst/>
            <a:ahLst/>
            <a:cxnLst/>
            <a:rect l="l" t="t" r="r" b="b"/>
            <a:pathLst>
              <a:path w="6348428" h="5911850">
                <a:moveTo>
                  <a:pt x="1146508" y="402590"/>
                </a:moveTo>
                <a:lnTo>
                  <a:pt x="108918" y="2192020"/>
                </a:lnTo>
                <a:cubicBezTo>
                  <a:pt x="-68882" y="2498090"/>
                  <a:pt x="-25702" y="2884170"/>
                  <a:pt x="214328" y="3144520"/>
                </a:cubicBezTo>
                <a:lnTo>
                  <a:pt x="2525728" y="5651500"/>
                </a:lnTo>
                <a:cubicBezTo>
                  <a:pt x="2678128" y="5817870"/>
                  <a:pt x="2894028" y="5911850"/>
                  <a:pt x="3118818" y="5911850"/>
                </a:cubicBezTo>
                <a:lnTo>
                  <a:pt x="5540708" y="5911850"/>
                </a:lnTo>
                <a:cubicBezTo>
                  <a:pt x="5986478" y="5911850"/>
                  <a:pt x="6348428" y="5549900"/>
                  <a:pt x="6348428" y="5104130"/>
                </a:cubicBezTo>
                <a:lnTo>
                  <a:pt x="6348428" y="1891030"/>
                </a:lnTo>
                <a:cubicBezTo>
                  <a:pt x="6348428" y="1724660"/>
                  <a:pt x="6297628" y="1562100"/>
                  <a:pt x="6201108" y="1426210"/>
                </a:cubicBezTo>
                <a:lnTo>
                  <a:pt x="5439108" y="342900"/>
                </a:lnTo>
                <a:cubicBezTo>
                  <a:pt x="5287978" y="128270"/>
                  <a:pt x="5041598" y="0"/>
                  <a:pt x="4778708" y="0"/>
                </a:cubicBezTo>
                <a:lnTo>
                  <a:pt x="1845008" y="0"/>
                </a:lnTo>
                <a:cubicBezTo>
                  <a:pt x="1556718" y="0"/>
                  <a:pt x="1290018" y="153670"/>
                  <a:pt x="1146508" y="402590"/>
                </a:cubicBezTo>
                <a:close/>
              </a:path>
            </a:pathLst>
          </a:custGeom>
          <a:blipFill>
            <a:blip r:embed="rId2"/>
            <a:stretch>
              <a:fillRect l="-19778" r="-19778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CEFBAECE-ED16-723D-7FED-2D6AC2B5F6DC}"/>
              </a:ext>
            </a:extLst>
          </p:cNvPr>
          <p:cNvSpPr>
            <a:spLocks noGrp="1"/>
          </p:cNvSpPr>
          <p:nvPr/>
        </p:nvSpPr>
        <p:spPr>
          <a:xfrm>
            <a:off x="961225" y="7244488"/>
            <a:ext cx="15590980" cy="11694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976"/>
              </a:lnSpc>
              <a:buNone/>
            </a:pPr>
            <a:r>
              <a:rPr lang="es-419" sz="8976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Important Dates</a:t>
            </a:r>
            <a:endParaRPr sz="8976" b="1" dirty="0">
              <a:solidFill>
                <a:srgbClr val="1B1B1B"/>
              </a:solidFill>
              <a:latin typeface="Telegraf Medium"/>
              <a:ea typeface="Telegraf Medium"/>
              <a:cs typeface="Telegraf Medium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7F717C9-B4D6-E263-5E8B-C3CFFC7F6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562539"/>
              </p:ext>
            </p:extLst>
          </p:nvPr>
        </p:nvGraphicFramePr>
        <p:xfrm>
          <a:off x="6134841" y="782696"/>
          <a:ext cx="10228106" cy="4296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6420">
                  <a:extLst>
                    <a:ext uri="{9D8B030D-6E8A-4147-A177-3AD203B41FA5}">
                      <a16:colId xmlns:a16="http://schemas.microsoft.com/office/drawing/2014/main" val="2416299204"/>
                    </a:ext>
                  </a:extLst>
                </a:gridCol>
                <a:gridCol w="2566420">
                  <a:extLst>
                    <a:ext uri="{9D8B030D-6E8A-4147-A177-3AD203B41FA5}">
                      <a16:colId xmlns:a16="http://schemas.microsoft.com/office/drawing/2014/main" val="3485250450"/>
                    </a:ext>
                  </a:extLst>
                </a:gridCol>
                <a:gridCol w="2528846">
                  <a:extLst>
                    <a:ext uri="{9D8B030D-6E8A-4147-A177-3AD203B41FA5}">
                      <a16:colId xmlns:a16="http://schemas.microsoft.com/office/drawing/2014/main" val="2590768355"/>
                    </a:ext>
                  </a:extLst>
                </a:gridCol>
                <a:gridCol w="2566420">
                  <a:extLst>
                    <a:ext uri="{9D8B030D-6E8A-4147-A177-3AD203B41FA5}">
                      <a16:colId xmlns:a16="http://schemas.microsoft.com/office/drawing/2014/main" val="333709207"/>
                    </a:ext>
                  </a:extLst>
                </a:gridCol>
              </a:tblGrid>
              <a:tr h="914630">
                <a:tc>
                  <a:txBody>
                    <a:bodyPr/>
                    <a:lstStyle/>
                    <a:p>
                      <a:pPr marL="50800" marR="0" algn="ctr">
                        <a:buNone/>
                      </a:pPr>
                      <a:r>
                        <a:rPr lang="en-EC" sz="2400">
                          <a:effectLst/>
                        </a:rPr>
                        <a:t>Description</a:t>
                      </a:r>
                      <a:endParaRPr lang="en-EC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800" marR="0" algn="ctr">
                        <a:buNone/>
                      </a:pPr>
                      <a:r>
                        <a:rPr lang="en-EC" sz="2400">
                          <a:effectLst/>
                        </a:rPr>
                        <a:t>Category</a:t>
                      </a:r>
                      <a:endParaRPr lang="en-EC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800" marR="0" algn="ctr">
                        <a:buNone/>
                      </a:pPr>
                      <a:r>
                        <a:rPr lang="en-EC" sz="2400">
                          <a:effectLst/>
                        </a:rPr>
                        <a:t>Percentage of final grade</a:t>
                      </a:r>
                      <a:endParaRPr lang="en-EC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800" marR="0" algn="ctr">
                        <a:buNone/>
                      </a:pPr>
                      <a:r>
                        <a:rPr lang="en-EC" sz="2400" dirty="0">
                          <a:effectLst/>
                        </a:rPr>
                        <a:t>Assessment Date*</a:t>
                      </a:r>
                      <a:endParaRPr lang="en-EC" sz="2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4000904405"/>
                  </a:ext>
                </a:extLst>
              </a:tr>
              <a:tr h="563667">
                <a:tc>
                  <a:txBody>
                    <a:bodyPr/>
                    <a:lstStyle/>
                    <a:p>
                      <a:pPr marL="50800" marR="0" algn="ctr">
                        <a:buNone/>
                      </a:pPr>
                      <a:r>
                        <a:rPr lang="en-EC" sz="2400">
                          <a:effectLst/>
                        </a:rPr>
                        <a:t>Homework 01</a:t>
                      </a:r>
                      <a:endParaRPr lang="en-EC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800" marR="0" algn="ctr">
                        <a:buNone/>
                      </a:pPr>
                      <a:r>
                        <a:rPr lang="en-EC" sz="2400">
                          <a:effectLst/>
                        </a:rPr>
                        <a:t>Homework</a:t>
                      </a:r>
                      <a:endParaRPr lang="en-EC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800" marR="0" algn="r">
                        <a:buNone/>
                      </a:pPr>
                      <a:r>
                        <a:rPr lang="en-EC" sz="2400">
                          <a:effectLst/>
                        </a:rPr>
                        <a:t>12 %</a:t>
                      </a:r>
                      <a:endParaRPr lang="en-EC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800" marR="0" algn="r">
                        <a:buNone/>
                      </a:pPr>
                      <a:r>
                        <a:rPr lang="en-EC" sz="2400">
                          <a:effectLst/>
                        </a:rPr>
                        <a:t>September 11</a:t>
                      </a:r>
                      <a:endParaRPr lang="en-EC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273000958"/>
                  </a:ext>
                </a:extLst>
              </a:tr>
              <a:tr h="563667">
                <a:tc>
                  <a:txBody>
                    <a:bodyPr/>
                    <a:lstStyle/>
                    <a:p>
                      <a:pPr marL="50800" marR="0" algn="ctr">
                        <a:buNone/>
                      </a:pPr>
                      <a:r>
                        <a:rPr lang="en-EC" sz="2400">
                          <a:effectLst/>
                        </a:rPr>
                        <a:t>Homework 02</a:t>
                      </a:r>
                      <a:endParaRPr lang="en-EC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800" marR="0" algn="ctr">
                        <a:buNone/>
                      </a:pPr>
                      <a:r>
                        <a:rPr lang="en-EC" sz="2400">
                          <a:effectLst/>
                        </a:rPr>
                        <a:t>Homework</a:t>
                      </a:r>
                      <a:endParaRPr lang="en-EC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800" marR="0" algn="r">
                        <a:buNone/>
                      </a:pPr>
                      <a:r>
                        <a:rPr lang="en-EC" sz="2400" dirty="0">
                          <a:effectLst/>
                        </a:rPr>
                        <a:t>16 %</a:t>
                      </a:r>
                      <a:endParaRPr lang="en-EC" sz="2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800" marR="0" algn="r">
                        <a:buNone/>
                      </a:pPr>
                      <a:r>
                        <a:rPr lang="en-EC" sz="2400">
                          <a:effectLst/>
                        </a:rPr>
                        <a:t>October 2</a:t>
                      </a:r>
                      <a:endParaRPr lang="en-EC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109663508"/>
                  </a:ext>
                </a:extLst>
              </a:tr>
              <a:tr h="563667">
                <a:tc>
                  <a:txBody>
                    <a:bodyPr/>
                    <a:lstStyle/>
                    <a:p>
                      <a:pPr marL="50800" marR="0" algn="ctr">
                        <a:buNone/>
                      </a:pPr>
                      <a:r>
                        <a:rPr lang="en-EC" sz="2400">
                          <a:effectLst/>
                        </a:rPr>
                        <a:t>Homework 03</a:t>
                      </a:r>
                      <a:endParaRPr lang="en-EC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800" marR="0" algn="ctr">
                        <a:buNone/>
                      </a:pPr>
                      <a:r>
                        <a:rPr lang="en-EC" sz="2400">
                          <a:effectLst/>
                        </a:rPr>
                        <a:t>Homework</a:t>
                      </a:r>
                      <a:endParaRPr lang="en-EC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800" marR="0" algn="r">
                        <a:buNone/>
                      </a:pPr>
                      <a:r>
                        <a:rPr lang="en-EC" sz="2400">
                          <a:effectLst/>
                        </a:rPr>
                        <a:t>12 %</a:t>
                      </a:r>
                      <a:endParaRPr lang="en-EC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800" marR="0" algn="r">
                        <a:buNone/>
                      </a:pPr>
                      <a:r>
                        <a:rPr lang="en-EC" sz="2400">
                          <a:effectLst/>
                        </a:rPr>
                        <a:t>November 6</a:t>
                      </a:r>
                      <a:endParaRPr lang="en-EC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878925473"/>
                  </a:ext>
                </a:extLst>
              </a:tr>
              <a:tr h="563667">
                <a:tc>
                  <a:txBody>
                    <a:bodyPr/>
                    <a:lstStyle/>
                    <a:p>
                      <a:pPr marL="50800" marR="0" algn="ctr">
                        <a:buNone/>
                      </a:pPr>
                      <a:r>
                        <a:rPr lang="en-EC" sz="2400">
                          <a:effectLst/>
                        </a:rPr>
                        <a:t>Midterm Exam 01</a:t>
                      </a:r>
                      <a:endParaRPr lang="en-EC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800" marR="0" algn="ctr">
                        <a:buNone/>
                      </a:pPr>
                      <a:r>
                        <a:rPr lang="en-EC" sz="2400">
                          <a:effectLst/>
                        </a:rPr>
                        <a:t>Exams</a:t>
                      </a:r>
                      <a:endParaRPr lang="en-EC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800" marR="0" algn="r">
                        <a:buNone/>
                      </a:pPr>
                      <a:r>
                        <a:rPr lang="en-EC" sz="2400">
                          <a:effectLst/>
                        </a:rPr>
                        <a:t>20 %</a:t>
                      </a:r>
                      <a:endParaRPr lang="en-EC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800" marR="0" algn="r">
                        <a:buNone/>
                      </a:pPr>
                      <a:r>
                        <a:rPr lang="en-EC" sz="2400">
                          <a:effectLst/>
                        </a:rPr>
                        <a:t>October 8</a:t>
                      </a:r>
                      <a:endParaRPr lang="en-EC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595367277"/>
                  </a:ext>
                </a:extLst>
              </a:tr>
              <a:tr h="563667">
                <a:tc>
                  <a:txBody>
                    <a:bodyPr/>
                    <a:lstStyle/>
                    <a:p>
                      <a:pPr marL="50800" marR="0" algn="ctr">
                        <a:buNone/>
                      </a:pPr>
                      <a:r>
                        <a:rPr lang="en-EC" sz="2400">
                          <a:effectLst/>
                        </a:rPr>
                        <a:t>Midterm Exam 02</a:t>
                      </a:r>
                      <a:endParaRPr lang="en-EC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800" marR="0" algn="ctr">
                        <a:buNone/>
                      </a:pPr>
                      <a:r>
                        <a:rPr lang="en-EC" sz="2400">
                          <a:effectLst/>
                        </a:rPr>
                        <a:t>Exams</a:t>
                      </a:r>
                      <a:endParaRPr lang="en-EC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800" marR="0" algn="r">
                        <a:buNone/>
                      </a:pPr>
                      <a:r>
                        <a:rPr lang="en-EC" sz="2400">
                          <a:effectLst/>
                        </a:rPr>
                        <a:t>20 %</a:t>
                      </a:r>
                      <a:endParaRPr lang="en-EC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800" marR="0" algn="r">
                        <a:buNone/>
                      </a:pPr>
                      <a:r>
                        <a:rPr lang="en-EC" sz="2400">
                          <a:effectLst/>
                        </a:rPr>
                        <a:t>December 3</a:t>
                      </a:r>
                      <a:endParaRPr lang="en-EC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711095945"/>
                  </a:ext>
                </a:extLst>
              </a:tr>
              <a:tr h="563667">
                <a:tc>
                  <a:txBody>
                    <a:bodyPr/>
                    <a:lstStyle/>
                    <a:p>
                      <a:pPr marL="50800" marR="0" algn="ctr">
                        <a:buNone/>
                      </a:pPr>
                      <a:r>
                        <a:rPr lang="en-EC" sz="2400">
                          <a:effectLst/>
                        </a:rPr>
                        <a:t>Final Project</a:t>
                      </a:r>
                      <a:endParaRPr lang="en-EC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800" marR="0" algn="ctr">
                        <a:buNone/>
                      </a:pPr>
                      <a:r>
                        <a:rPr lang="en-EC" sz="2400">
                          <a:effectLst/>
                        </a:rPr>
                        <a:t>Project</a:t>
                      </a:r>
                      <a:endParaRPr lang="en-EC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800" marR="0" algn="r">
                        <a:buNone/>
                      </a:pPr>
                      <a:r>
                        <a:rPr lang="en-EC" sz="2400">
                          <a:effectLst/>
                        </a:rPr>
                        <a:t>20 %</a:t>
                      </a:r>
                      <a:endParaRPr lang="en-EC" sz="28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800" marR="0" algn="r">
                        <a:buNone/>
                      </a:pPr>
                      <a:r>
                        <a:rPr lang="en-EC" sz="2400" dirty="0">
                          <a:effectLst/>
                        </a:rPr>
                        <a:t>December 7 - 17</a:t>
                      </a:r>
                      <a:endParaRPr lang="en-EC" sz="2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283527670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6FAC2B-B731-580C-9E14-8B43BB49A68E}"/>
              </a:ext>
            </a:extLst>
          </p:cNvPr>
          <p:cNvSpPr txBox="1"/>
          <p:nvPr/>
        </p:nvSpPr>
        <p:spPr>
          <a:xfrm>
            <a:off x="6134841" y="507011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buNone/>
            </a:pPr>
            <a:r>
              <a:rPr lang="en-EC" b="0" i="0" dirty="0">
                <a:solidFill>
                  <a:schemeClr val="tx1"/>
                </a:solidFill>
                <a:effectLst/>
                <a:latin typeface="+mn-lt"/>
              </a:rPr>
              <a:t>* Dates may change depending on the dynamics of the class. </a:t>
            </a:r>
            <a:endParaRPr lang="en-EC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64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276</Words>
  <Application>Microsoft Macintosh PowerPoint</Application>
  <DocSecurity>0</DocSecurity>
  <PresentationFormat>Custom</PresentationFormat>
  <Paragraphs>60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Telegraf Medium</vt:lpstr>
      <vt:lpstr>Calibri</vt:lpstr>
      <vt:lpstr>Arial</vt:lpstr>
      <vt:lpstr>Helvetica World Bold</vt:lpstr>
      <vt:lpstr>Telegraf</vt:lpstr>
      <vt:lpstr>Helvetica World</vt:lpstr>
      <vt:lpstr>Times New Roman</vt:lpstr>
      <vt:lpstr>Telegraf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Daniel Riofrío</cp:lastModifiedBy>
  <cp:revision>2</cp:revision>
  <dcterms:created xsi:type="dcterms:W3CDTF">2026-07-18T15:54:31Z</dcterms:created>
  <dcterms:modified xsi:type="dcterms:W3CDTF">2026-08-16T23:46:25Z</dcterms:modified>
</cp:coreProperties>
</file>